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74" r:id="rId6"/>
    <p:sldId id="275" r:id="rId7"/>
    <p:sldId id="276" r:id="rId8"/>
    <p:sldId id="271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>
      <p:cViewPr varScale="1">
        <p:scale>
          <a:sx n="90" d="100"/>
          <a:sy n="90" d="100"/>
        </p:scale>
        <p:origin x="22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2/28/2026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2/28/2026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584201"/>
            <a:ext cx="8534400" cy="1473199"/>
          </a:xfrm>
        </p:spPr>
        <p:txBody>
          <a:bodyPr>
            <a:normAutofit fontScale="90000"/>
          </a:bodyPr>
          <a:lstStyle/>
          <a:p>
            <a:r>
              <a:rPr lang="en-US" dirty="0"/>
              <a:t>AWS-GenAI-LLM-Chatbot-Guardrail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and Implementation of Topic-Based Guardrails in Amazon Bedrock for Financial Advice Risk Mitigation and Trace-Level Monitoring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3CE42-6F87-B34E-B6D0-56CC91CA9E4D}"/>
              </a:ext>
            </a:extLst>
          </p:cNvPr>
          <p:cNvSpPr txBox="1"/>
          <p:nvPr/>
        </p:nvSpPr>
        <p:spPr>
          <a:xfrm>
            <a:off x="8913812" y="647700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© 2026 Susmita De.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759F1C4-5D5D-0433-F3DB-8DFD9CA6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en-US" dirty="0"/>
              <a:t>Prompt Execution &amp; Guardrail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A9A9-2AB0-B024-6A35-83164D183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3961129" cy="416052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Financial Advice Query Automatically Blocked by LLM Guardrail with Custom Denial Response</a:t>
            </a:r>
            <a:endParaRPr lang="en-US" dirty="0"/>
          </a:p>
          <a:p>
            <a:r>
              <a:rPr lang="en-US" dirty="0"/>
              <a:t>(What’s happening: User asks for financial advice → Guardrail intercepts → Model returns safe fallback response.)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58AD6-7BEC-C1DA-C8D0-95A7D4094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866" y="1905000"/>
            <a:ext cx="6854358" cy="35814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EF3FCA-6E30-C982-ADD1-0D160CECC288}"/>
              </a:ext>
            </a:extLst>
          </p:cNvPr>
          <p:cNvSpPr txBox="1"/>
          <p:nvPr/>
        </p:nvSpPr>
        <p:spPr>
          <a:xfrm>
            <a:off x="8913812" y="647700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© 2026 Susmita De.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693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57D5-E894-5B84-8CB0-20E2F603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60B6C2A-A258-841E-BEA3-0076576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Guardrail Intervention Triggered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C63B5E-9BCF-0040-8932-D789B441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21" y="1791161"/>
            <a:ext cx="6782061" cy="2933239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BD5B-1204-86CD-F73D-7862C6706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0812" y="1706880"/>
            <a:ext cx="3808572" cy="408432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Real-Time Guardrail Intervention Detected and Logged (Policy Violation: Financial Advice)</a:t>
            </a:r>
            <a:endParaRPr lang="en-US" dirty="0"/>
          </a:p>
          <a:p>
            <a:r>
              <a:rPr lang="en-US" dirty="0"/>
              <a:t>(What’s happening: System detects policy violation → Warning indicator shows 1 intervention instance.)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C33B8-1341-65EA-39D1-4B386D23C309}"/>
              </a:ext>
            </a:extLst>
          </p:cNvPr>
          <p:cNvSpPr txBox="1"/>
          <p:nvPr/>
        </p:nvSpPr>
        <p:spPr>
          <a:xfrm>
            <a:off x="8913812" y="647700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© 2026 Susmita De.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84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6085-06E9-7EF5-EBCE-809A98BF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09F5AF3-5D5E-7BFD-6064-5362FCD3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Policy Trace &amp; Topic-Level Enforcement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7E79-90C9-2E70-AE22-2385DFAE7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3808729" cy="40081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Denied Topic Detection Confirmed: </a:t>
            </a:r>
            <a:r>
              <a:rPr lang="en-US" b="1" dirty="0" err="1"/>
              <a:t>FinancialAdvice</a:t>
            </a:r>
            <a:r>
              <a:rPr lang="en-US" b="1" dirty="0"/>
              <a:t> Classified and Blocked via Guardrail Policy</a:t>
            </a:r>
            <a:endParaRPr lang="en-US" dirty="0"/>
          </a:p>
          <a:p>
            <a:r>
              <a:rPr lang="en-US" dirty="0"/>
              <a:t>(What’s happening: Trace shows topic classification → </a:t>
            </a:r>
            <a:r>
              <a:rPr lang="en-US" dirty="0" err="1"/>
              <a:t>FinancialAdvice</a:t>
            </a:r>
            <a:r>
              <a:rPr lang="en-US" dirty="0"/>
              <a:t> → Blocked → Detection = True.)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C3C89-EDED-B779-46D0-A5413947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12" y="2133600"/>
            <a:ext cx="6685937" cy="25908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6F294-8952-5B45-7412-7AA4D3205C5D}"/>
              </a:ext>
            </a:extLst>
          </p:cNvPr>
          <p:cNvSpPr txBox="1"/>
          <p:nvPr/>
        </p:nvSpPr>
        <p:spPr>
          <a:xfrm>
            <a:off x="8913812" y="647700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© 2026 Susmita De.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508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 dirty="0"/>
              <a:t>fin</a:t>
            </a:r>
          </a:p>
        </p:txBody>
      </p:sp>
      <p:pic>
        <p:nvPicPr>
          <p:cNvPr id="6" name="Picture 5" descr="Numbers and symbols">
            <a:extLst>
              <a:ext uri="{FF2B5EF4-FFF2-40B4-BE49-F238E27FC236}">
                <a16:creationId xmlns:a16="http://schemas.microsoft.com/office/drawing/2014/main" id="{F23A43C5-F894-D93F-9783-09E2A29E4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01" r="-1" b="12574"/>
          <a:stretch>
            <a:fillRect/>
          </a:stretch>
        </p:blipFill>
        <p:spPr>
          <a:xfrm>
            <a:off x="1218883" y="1701797"/>
            <a:ext cx="10360501" cy="446227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FDC69-DC6D-2811-10E2-FB397B9AA2E7}"/>
              </a:ext>
            </a:extLst>
          </p:cNvPr>
          <p:cNvSpPr txBox="1"/>
          <p:nvPr/>
        </p:nvSpPr>
        <p:spPr>
          <a:xfrm>
            <a:off x="8913812" y="647700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© 2026 Susmita De.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21</TotalTime>
  <Words>166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Tech 16x9</vt:lpstr>
      <vt:lpstr>AWS-GenAI-LLM-Chatbot-Guardrail</vt:lpstr>
      <vt:lpstr>Prompt Execution &amp; Guardrail Response</vt:lpstr>
      <vt:lpstr>Guardrail Intervention Triggered</vt:lpstr>
      <vt:lpstr>Policy Trace &amp; Topic-Level Enforcement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De, Susmita</dc:creator>
  <cp:lastModifiedBy>De, Susmita</cp:lastModifiedBy>
  <cp:revision>9</cp:revision>
  <dcterms:created xsi:type="dcterms:W3CDTF">2026-02-28T16:48:46Z</dcterms:created>
  <dcterms:modified xsi:type="dcterms:W3CDTF">2026-02-28T17:10:20Z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